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744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6" name="Shape 4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48640"/>
            <a:ext cx="822960" cy="822960"/>
          </a:xfrm>
          <a:prstGeom prst="hexagon">
            <a:avLst/>
          </a:prstGeom>
          <a:solidFill>
            <a:srgbClr val="5FCBEF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384048"/>
            <a:ext cx="502920" cy="502920"/>
          </a:xfrm>
          <a:prstGeom prst="hexagon">
            <a:avLst/>
          </a:prstGeom>
          <a:solidFill>
            <a:srgbClr val="2E946B"/>
          </a:solidFill>
          <a:ln/>
        </p:spPr>
      </p:sp>
      <p:sp>
        <p:nvSpPr>
          <p:cNvPr id="9" name="Shape 7"/>
          <p:cNvSpPr/>
          <p:nvPr/>
        </p:nvSpPr>
        <p:spPr>
          <a:xfrm>
            <a:off x="1874520" y="502920"/>
            <a:ext cx="1051560" cy="1051560"/>
          </a:xfrm>
          <a:prstGeom prst="hexagon">
            <a:avLst/>
          </a:prstGeom>
          <a:solidFill>
            <a:srgbClr val="42D0A2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331720"/>
            <a:ext cx="594360" cy="594360"/>
          </a:xfrm>
          <a:prstGeom prst="hexagon">
            <a:avLst/>
          </a:prstGeom>
          <a:solidFill>
            <a:srgbClr val="42B05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3317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PROJECT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6974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91840" y="37033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of NYC Short-Term Rental Listings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337560" y="4892040"/>
            <a:ext cx="1188720" cy="0"/>
          </a:xfrm>
          <a:prstGeom prst="line">
            <a:avLst/>
          </a:prstGeom>
          <a:noFill/>
          <a:ln w="31750">
            <a:solidFill>
              <a:srgbClr val="2E83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Sharma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Airbnb, Inc. — founded in 2008 in San Francisco — reshaped the hospitality industry with a commission-based online marketplace connecting hosts and guests without owning any properties.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the New York City Airbnb Open Dataset to understand the dynamics of the city's short-term lodging market — through data wrangling, exploratory data analysis, and visualization.
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uncover the factors that influence listing availability, pricing strategy, and host / customer behaviour, providing insights valuable to hosts, guests, and platform stakeholders.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 answer the following questions from the Airbnb Open Data: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84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different property types in the dataset?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715768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neighbourhood group has the highest number of listings?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01568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374136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neighbourhood group has the highest average listing price?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59936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032504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relationship between construction year and price?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690872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10 hosts by calculated host listing count?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12080" y="2084832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2084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2057400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hosts with verified identities more likely to get positive reviews?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12080" y="2743200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2715768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correlation between listing price and service fee?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12080" y="3401568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3374136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average review rate vary by neighbourhood group and room type?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12080" y="4059936"/>
            <a:ext cx="292608" cy="292608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23560" y="4032504"/>
            <a:ext cx="4160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hosts with more listings maintain higher yearly availability?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 Airbnb Open Data — loaded from Excel into a pandas DataFrame.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6B7B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3113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102,599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/ 26 columns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3317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063240" y="21031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2E83C3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223113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83,796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154680" y="2788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rows / 24 cols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210312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2E946B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2231136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532120" y="2788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removed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 in the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id, NAME, host id, host name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702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host_identity_verified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65429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neighbourhood group, neighbourhood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03834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lat, long, country, country 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3886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room type, Construction year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42702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price_$, service_fee_$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65429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nights, number of reviews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66160" y="503834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 review, reviews per month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88620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rate number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427024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calculated host listings count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465429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availability 365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5038344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cancellation_policy, instant_bookable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 in the raw data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020824"/>
            <a:ext cx="118872" cy="11887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191109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duplicate records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118872" cy="11887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238658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data in house_rules &amp; license columns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118872" cy="11887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8620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signs and commas in price / service fee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47288"/>
            <a:ext cx="118872" cy="11887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37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types (price, id, dates, year)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922776"/>
            <a:ext cx="118872" cy="11887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130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'brookln' misspelled instead of 'Brooklyn'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118872" cy="118872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28853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in availability 365 (&gt; 500 days)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029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 taken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53492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duplicates &amp; sparse columns • Stripped $ / , from price &amp; fee • Renamed to price_$ / service_fee_$ • Dropped missing values • Fixed dtypes • Corrected 'Brooklyn' spelling • Removed availability outliers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92040" y="1554480"/>
            <a:ext cx="4709160" cy="4709160"/>
          </a:xfrm>
          <a:prstGeom prst="roundRect">
            <a:avLst>
              <a:gd name="adj" fmla="val 1553"/>
            </a:avLst>
          </a:prstGeom>
          <a:solidFill>
            <a:srgbClr val="2C3C43"/>
          </a:solidFill>
          <a:ln/>
        </p:spPr>
      </p:sp>
      <p:sp>
        <p:nvSpPr>
          <p:cNvPr id="24" name="Shape 22"/>
          <p:cNvSpPr/>
          <p:nvPr/>
        </p:nvSpPr>
        <p:spPr>
          <a:xfrm>
            <a:off x="5056632" y="1700784"/>
            <a:ext cx="109728" cy="109728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25" name="Shape 23"/>
          <p:cNvSpPr/>
          <p:nvPr/>
        </p:nvSpPr>
        <p:spPr>
          <a:xfrm>
            <a:off x="5221224" y="1700784"/>
            <a:ext cx="109728" cy="109728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26" name="Shape 24"/>
          <p:cNvSpPr/>
          <p:nvPr/>
        </p:nvSpPr>
        <p:spPr>
          <a:xfrm>
            <a:off x="5385816" y="1700784"/>
            <a:ext cx="109728" cy="109728"/>
          </a:xfrm>
          <a:prstGeom prst="ellipse">
            <a:avLst/>
          </a:prstGeom>
          <a:solidFill>
            <a:srgbClr val="61C454"/>
          </a:solidFill>
          <a:ln/>
        </p:spPr>
      </p:sp>
      <p:sp>
        <p:nvSpPr>
          <p:cNvPr id="27" name="Text 25"/>
          <p:cNvSpPr/>
          <p:nvPr/>
        </p:nvSpPr>
        <p:spPr>
          <a:xfrm>
            <a:off x="5148072" y="1965960"/>
            <a:ext cx="4251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duplicate records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df.drop_duplicates(inplace=True)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sparse columns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df.drop(['house_rules','license'],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axis=1, inplace=True)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Clean price &amp; service fee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df['price'] = df['price'].astype(str)\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.str.replace('$','',regex=False)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missing values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df.dropna(inplace=True)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data types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df['price_$'] = df['price_$'].astype(float)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df['last review'] = pd.to_datetime(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df['last review'])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'brookln' -&gt; 'Brooklyn'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df.loc[df['neighbourhood group']==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'brookln','neighbourhood group'] = 'Brooklyn'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2E83C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72821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77640" y="17647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analysis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386584"/>
            <a:ext cx="420624" cy="420624"/>
          </a:xfrm>
          <a:prstGeom prst="ellipse">
            <a:avLst/>
          </a:prstGeom>
          <a:solidFill>
            <a:srgbClr val="42D0A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865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77640" y="23682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wrangling &amp; cleaning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90088"/>
            <a:ext cx="420624" cy="420624"/>
          </a:xfrm>
          <a:prstGeom prst="ellipse">
            <a:avLst/>
          </a:prstGeom>
          <a:solidFill>
            <a:srgbClr val="2E946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90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2935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77640" y="29718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on the dataset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593592"/>
            <a:ext cx="420624" cy="420624"/>
          </a:xfrm>
          <a:prstGeom prst="ellipse">
            <a:avLst/>
          </a:prstGeom>
          <a:solidFill>
            <a:srgbClr val="5FCBE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93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538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977640" y="35753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&amp; line plots for EDA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97096"/>
            <a:ext cx="420624" cy="420624"/>
          </a:xfrm>
          <a:prstGeom prst="ellipse">
            <a:avLst/>
          </a:prstGeom>
          <a:solidFill>
            <a:srgbClr val="42B05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97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" y="41422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77640" y="41788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 regression plots &amp; grouped bar charts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420624" cy="420624"/>
          </a:xfrm>
          <a:prstGeom prst="ellipse">
            <a:avLst/>
          </a:prstGeom>
          <a:solidFill>
            <a:srgbClr val="96D14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00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43000" y="4745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77640" y="47823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for interactive visualization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404104"/>
            <a:ext cx="420624" cy="420624"/>
          </a:xfrm>
          <a:prstGeom prst="ellipse">
            <a:avLst/>
          </a:prstGeom>
          <a:solidFill>
            <a:srgbClr val="6B7B8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4041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3000" y="5349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Google Colab Notebook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977640" y="53858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analysis environment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PROPERTY TYPES</a:t>
            </a:r>
            <a:endParaRPr lang="en-US" sz="2700" dirty="0"/>
          </a:p>
        </p:txBody>
      </p:sp>
      <p:pic>
        <p:nvPicPr>
          <p:cNvPr id="8" name="Image 0" descr="/home/claude/work/graphs/22_room_typ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3796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600200"/>
            <a:ext cx="2331720" cy="4617720"/>
          </a:xfrm>
          <a:prstGeom prst="roundRect">
            <a:avLst>
              <a:gd name="adj" fmla="val 3137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810512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ANALYZED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62088" y="2121408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the 4 room types listed on the platform (room type column).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62088" y="33101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62088" y="3621024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of listing counts for Entire home/apt, Private room, Shared room and Hotel room.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62088" y="4809744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62088" y="512064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dominates with 44,367 listings (53%), followed by Private room (37,664). Shared room (1,655) and Hotel room (110) are rare.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NEIGHBOURHOOD GROUPS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76072" y="1170432"/>
            <a:ext cx="201168" cy="201168"/>
          </a:xfrm>
          <a:prstGeom prst="rect">
            <a:avLst/>
          </a:prstGeom>
          <a:solidFill>
            <a:srgbClr val="2E83C3"/>
          </a:solidFill>
          <a:ln/>
        </p:spPr>
      </p:sp>
      <p:pic>
        <p:nvPicPr>
          <p:cNvPr id="8" name="Image 0" descr="/home/claude/work/graphs/26_hood_grou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3796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600200"/>
            <a:ext cx="2331720" cy="4617720"/>
          </a:xfrm>
          <a:prstGeom prst="roundRect">
            <a:avLst>
              <a:gd name="adj" fmla="val 3137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810512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ANALYZED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62088" y="2121408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listings across the 5 NYC neighbourhood groups.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62088" y="33101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62088" y="3621024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comparing listing counts for Brooklyn, Manhattan, Queens, Bronx and Staten Island.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62088" y="4809744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62088" y="512064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leads with 34,780 listings, closely followed by Manhattan (34,735). Bronx (2,276) and Staten Island (821) have far fewer listings.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AVERAGE PRICE BY AREA</a:t>
            </a:r>
            <a:endParaRPr lang="en-US" sz="2700" dirty="0"/>
          </a:p>
        </p:txBody>
      </p:sp>
      <p:pic>
        <p:nvPicPr>
          <p:cNvPr id="8" name="Image 0" descr="/home/claude/work/graphs/29_avg_price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3796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600200"/>
            <a:ext cx="2331720" cy="4617720"/>
          </a:xfrm>
          <a:prstGeom prst="roundRect">
            <a:avLst>
              <a:gd name="adj" fmla="val 3137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810512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ANALYZED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62088" y="2121408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listing price_$ grouped by neighbourhood group.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62088" y="33101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62088" y="3621024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of mean price per neighbourhood group, sorted descending.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62088" y="4809744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62088" y="512064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close across groups: Queens has the highest average price ($630.54), closely followed by the Bronx ($630.34). Staten Island is lowest ($622.37).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CONSTRUCTION YEAR VS PRICE</a:t>
            </a:r>
            <a:endParaRPr lang="en-US" sz="2700" dirty="0"/>
          </a:p>
        </p:txBody>
      </p:sp>
      <p:pic>
        <p:nvPicPr>
          <p:cNvPr id="8" name="Image 0" descr="/home/claude/work/graphs/32_construction_year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3796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600200"/>
            <a:ext cx="2331720" cy="4617720"/>
          </a:xfrm>
          <a:prstGeom prst="roundRect">
            <a:avLst>
              <a:gd name="adj" fmla="val 3137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810512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ANALYZED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62088" y="2121408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price_$ of listings grouped by the property's Construction year (2003–2022).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62088" y="33101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62088" y="3621024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plot tracking mean listing price across construction years.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62088" y="4809744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62088" y="512064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trend downward as construction year increases — newer properties (post-2015) show lower average prices than older ones.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TOP 10 HOSTS</a:t>
            </a:r>
            <a:endParaRPr lang="en-US" sz="2700" dirty="0"/>
          </a:p>
        </p:txBody>
      </p:sp>
      <p:pic>
        <p:nvPicPr>
          <p:cNvPr id="8" name="Image 0" descr="/home/claude/work/graphs/35_top10_ho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600200"/>
            <a:ext cx="2331720" cy="4617720"/>
          </a:xfrm>
          <a:prstGeom prst="roundRect">
            <a:avLst>
              <a:gd name="adj" fmla="val 3137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810512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ANALYZED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62088" y="2121408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hosts with the highest sum of calculated host listings count.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62088" y="303580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62088" y="3346704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 chart ranking the top 10 hosts by total listings managed.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62088" y="4261104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62088" y="457200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Sonder (NYC) leads by far with 111,921 listings, followed by Karen (42,413) and Jeniffer (31,447) — signalling a market with large professional/corporate hosts.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VERIFICATION VS REVIEW RATE</a:t>
            </a:r>
            <a:endParaRPr lang="en-US" sz="2500" dirty="0"/>
          </a:p>
        </p:txBody>
      </p:sp>
      <p:pic>
        <p:nvPicPr>
          <p:cNvPr id="8" name="Image 0" descr="/home/claude/work/graphs/40_review_rate_verificati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4160520" cy="3063240"/>
          </a:xfrm>
          <a:prstGeom prst="rect">
            <a:avLst/>
          </a:prstGeom>
        </p:spPr>
      </p:pic>
      <p:pic>
        <p:nvPicPr>
          <p:cNvPr id="9" name="Image 1" descr="/home/claude/work/graphs/41_review_rate_verification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645920"/>
            <a:ext cx="4160520" cy="3063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84632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8368" y="498348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3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rate is nearly identical for verified (3.27) and unconfirmed (3.28) hosts — a marginal difference. Identity verification does not appear to drive more positive reviews.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SERVICE FEE CORRELATION</a:t>
            </a:r>
            <a:endParaRPr lang="en-US" sz="2700" dirty="0"/>
          </a:p>
        </p:txBody>
      </p:sp>
      <p:pic>
        <p:nvPicPr>
          <p:cNvPr id="8" name="Image 0" descr="/home/claude/work/graphs/45_price_servicefee_reg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53796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600200"/>
            <a:ext cx="2331720" cy="4617720"/>
          </a:xfrm>
          <a:prstGeom prst="roundRect">
            <a:avLst>
              <a:gd name="adj" fmla="val 3137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810512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ANALYZED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62088" y="2121408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price_$ and service_fee_$ across all cleaned listings.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62088" y="33101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62088" y="3621024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plot of price against service fee, with a fitted trend line.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62088" y="4809744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62088" y="512064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≈ 0.99 — a near-perfect positive relationship. As listing price rises, the service fee rises proportionally.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RATE BY AREA &amp; ROOM TYPE</a:t>
            </a:r>
            <a:endParaRPr lang="en-US" sz="2700" dirty="0"/>
          </a:p>
        </p:txBody>
      </p:sp>
      <p:pic>
        <p:nvPicPr>
          <p:cNvPr id="8" name="Image 0" descr="/home/claude/work/graphs/49_review_rate_by_hood_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600200"/>
            <a:ext cx="2331720" cy="4617720"/>
          </a:xfrm>
          <a:prstGeom prst="roundRect">
            <a:avLst>
              <a:gd name="adj" fmla="val 3137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810512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ANALYZED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62088" y="2121408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rate number split by neighbourhood group and room type.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62088" y="303580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62088" y="3346704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grouped bar chart of mean review rate across every neighbourhood group / room type pair.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62088" y="4261104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62088" y="457200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rooms score a higher average review rate than other property types in Brooklyn, Manhattan and Queens — the three groups where hotel rooms are listed.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LISTINGS VS AVAILABILITY</a:t>
            </a:r>
            <a:endParaRPr lang="en-US" sz="2700" dirty="0"/>
          </a:p>
        </p:txBody>
      </p:sp>
      <p:pic>
        <p:nvPicPr>
          <p:cNvPr id="8" name="Image 0" descr="/home/claude/work/graphs/52_hostlistings_availability_reg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6675120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60920" y="1600200"/>
            <a:ext cx="2331720" cy="4617720"/>
          </a:xfrm>
          <a:prstGeom prst="roundRect">
            <a:avLst>
              <a:gd name="adj" fmla="val 3137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62088" y="1810512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ANALYZED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62088" y="2121408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calculated host listings count and availability 365.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62088" y="303580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62088" y="3346704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plot of host listing count against yearly availability.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62088" y="4261104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62088" y="4572000"/>
            <a:ext cx="1929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≈ 0.07 — a very weak positive relationship. Hosts with more listings are not meaningfully more (or less) available year-round.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2E83C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5623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listings are Entire home/apt (44,367 of 83,796)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2E946B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85623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34,780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566160" y="25603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in Brooklyn — the top neighbourhood group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42D0A2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856232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$630.54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446520" y="256032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price in Queens — the priciest neighbourhood group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2C3C4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85800" y="454456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listing price and service fee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29000" y="3675888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2E83C3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 vs 3.28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3566160" y="454456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rate: verified vs unconfirmed hosts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675888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2E946B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8404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446520" y="454456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host listings count and availability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5910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4206240" cy="1965960"/>
          </a:xfrm>
          <a:prstGeom prst="roundRect">
            <a:avLst>
              <a:gd name="adj" fmla="val 3721"/>
            </a:avLst>
          </a:prstGeom>
          <a:solidFill>
            <a:srgbClr val="2C3C43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2048256"/>
            <a:ext cx="100584" cy="100584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04825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048256"/>
            <a:ext cx="100584" cy="100584"/>
          </a:xfrm>
          <a:prstGeom prst="ellipse">
            <a:avLst/>
          </a:prstGeom>
          <a:solidFill>
            <a:srgbClr val="61C45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3794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r"/content/P4-Airbnb Hotel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Booking Analysis.xlsx")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684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– price vs service fee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2C3C43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" y="4425696"/>
            <a:ext cx="100584" cy="100584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442569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" y="4425696"/>
            <a:ext cx="100584" cy="100584"/>
          </a:xfrm>
          <a:prstGeom prst="ellipse">
            <a:avLst/>
          </a:prstGeom>
          <a:solidFill>
            <a:srgbClr val="61C45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66344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df['price_$'].corr(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df['service_fee_$'])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0.99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sns.regplot(data=df,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x='price_$', y='service_fee_$')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15910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hosts by listings count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1920240"/>
            <a:ext cx="4206240" cy="1920240"/>
          </a:xfrm>
          <a:prstGeom prst="roundRect">
            <a:avLst>
              <a:gd name="adj" fmla="val 3810"/>
            </a:avLst>
          </a:prstGeom>
          <a:solidFill>
            <a:srgbClr val="2C3C43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9784" y="2048256"/>
            <a:ext cx="100584" cy="100584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23" name="Shape 21"/>
          <p:cNvSpPr/>
          <p:nvPr/>
        </p:nvSpPr>
        <p:spPr>
          <a:xfrm>
            <a:off x="5276088" y="204825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22392" y="2048256"/>
            <a:ext cx="100584" cy="100584"/>
          </a:xfrm>
          <a:prstGeom prst="ellipse">
            <a:avLst/>
          </a:prstGeom>
          <a:solidFill>
            <a:srgbClr val="61C45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228600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hosts = df.groupby("host name")\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['calculated host listings count']\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.sum().sort_values(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ascending=False).nlargest(10)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plt.bar(hosts.index, hosts.values)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9684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rate by host verification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83480" y="429768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2C3C43"/>
          </a:solidFill>
          <a:ln/>
        </p:spPr>
      </p:sp>
      <p:sp>
        <p:nvSpPr>
          <p:cNvPr id="28" name="Shape 26"/>
          <p:cNvSpPr/>
          <p:nvPr/>
        </p:nvSpPr>
        <p:spPr>
          <a:xfrm>
            <a:off x="5129784" y="4425696"/>
            <a:ext cx="100584" cy="100584"/>
          </a:xfrm>
          <a:prstGeom prst="ellipse">
            <a:avLst/>
          </a:prstGeom>
          <a:solidFill>
            <a:srgbClr val="ED6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5276088" y="4425696"/>
            <a:ext cx="100584" cy="100584"/>
          </a:xfrm>
          <a:prstGeom prst="ellipse">
            <a:avLst/>
          </a:prstGeom>
          <a:solidFill>
            <a:srgbClr val="F4BF4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22392" y="4425696"/>
            <a:ext cx="100584" cy="100584"/>
          </a:xfrm>
          <a:prstGeom prst="ellipse">
            <a:avLst/>
          </a:prstGeom>
          <a:solidFill>
            <a:srgbClr val="61C454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466344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= df.groupby(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"host_identity_verified")\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['review rate number'].mean()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4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plt.bar(review.index, review.values)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3276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Link:  </a:t>
            </a:r>
            <a:r>
              <a:rPr lang="en-US" sz="1250" u="sng" dirty="0">
                <a:solidFill>
                  <a:srgbClr val="3FC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kern="0" spc="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746504"/>
            <a:ext cx="128016" cy="128016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18488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 comprehensive analysis of the NYC Airbnb dataset — covering data wrangling, EDA, and interpretation of summary statistics.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28016" cy="128016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487168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listings dominate the market, and listing counts vary widely across neighbourhood groups, with Brooklyn and Manhattan far ahead of the Bronx and Staten Island.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128016" cy="128016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355848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price shows a downward trend against construction year, and a near-perfect correlation with service fee (0.99).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52544"/>
            <a:ext cx="128016" cy="128016"/>
          </a:xfrm>
          <a:prstGeom prst="rect">
            <a:avLst/>
          </a:prstGeom>
          <a:solidFill>
            <a:srgbClr val="2E83C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224528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identity verification shows only a marginal effect on review rate, and host listing count is only weakly related to yearly availability (0.07).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F5F7F8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394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9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 </a:t>
            </a:r>
            <a:r>
              <a:rPr lang="en-US" sz="125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on guest reviews, and predictive modelling (regression / ML) to forecast demand, pricing and customer behaviour.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-365760"/>
            <a:ext cx="1828800" cy="7589520"/>
          </a:xfrm>
          <a:prstGeom prst="parallelogram">
            <a:avLst/>
          </a:prstGeom>
          <a:solidFill>
            <a:srgbClr val="5FCBE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95560" y="-365760"/>
            <a:ext cx="1737360" cy="7589520"/>
          </a:xfrm>
          <a:prstGeom prst="parallelogram">
            <a:avLst/>
          </a:prstGeom>
          <a:solidFill>
            <a:srgbClr val="2E83C3"/>
          </a:solidFill>
          <a:ln/>
        </p:spPr>
      </p:sp>
      <p:sp>
        <p:nvSpPr>
          <p:cNvPr id="6" name="Shape 4"/>
          <p:cNvSpPr/>
          <p:nvPr/>
        </p:nvSpPr>
        <p:spPr>
          <a:xfrm>
            <a:off x="11109960" y="-365760"/>
            <a:ext cx="1463040" cy="7589520"/>
          </a:xfrm>
          <a:prstGeom prst="parallelogram">
            <a:avLst/>
          </a:prstGeom>
          <a:solidFill>
            <a:srgbClr val="2C3C43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120640"/>
            <a:ext cx="502920" cy="502920"/>
          </a:xfrm>
          <a:prstGeom prst="hexagon">
            <a:avLst/>
          </a:prstGeom>
          <a:solidFill>
            <a:srgbClr val="5FCBE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5440680"/>
            <a:ext cx="320040" cy="320040"/>
          </a:xfrm>
          <a:prstGeom prst="hexagon">
            <a:avLst/>
          </a:prstGeom>
          <a:solidFill>
            <a:srgbClr val="42B051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2423160" y="3520440"/>
            <a:ext cx="1188720" cy="0"/>
          </a:xfrm>
          <a:prstGeom prst="line">
            <a:avLst/>
          </a:prstGeom>
          <a:noFill/>
          <a:ln w="31750">
            <a:solidFill>
              <a:srgbClr val="2E83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&amp; Hotel Booking Analysis  —  Pranjal Sharma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1732</Words>
  <Application>Microsoft Office PowerPoint</Application>
  <PresentationFormat>Widescreen</PresentationFormat>
  <Paragraphs>266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pranjal sharma</cp:lastModifiedBy>
  <cp:revision>2</cp:revision>
  <dcterms:created xsi:type="dcterms:W3CDTF">2026-08-27T20:55:36Z</dcterms:created>
  <dcterms:modified xsi:type="dcterms:W3CDTF">2026-08-27T20:55:34Z</dcterms:modified>
</cp:coreProperties>
</file>